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023360"/>
            <a:ext cx="12191695" cy="283464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68496"/>
            <a:ext cx="12191695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2B5C"/>
                </a:solidFill>
              </a:rPr>
              <a:t>AIVARA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8B8B"/>
                </a:solidFill>
              </a:rPr>
              <a:t>Insight  •  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8912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Call-Center-Sentiment-Sample-Data.xlsx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074920"/>
            <a:ext cx="11368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E"/>
                </a:solidFill>
              </a:rPr>
              <a:t>Period: today vs yesterday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5532120"/>
            <a:ext cx="113687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9AACC"/>
                </a:solidFill>
              </a:rPr>
              <a:t>Generated  15 Oct 2026  20:29 UTC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C"/>
                </a:solidFill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19"/>
            <a:ext cx="11368735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307591"/>
            <a:ext cx="82296" cy="8229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188719"/>
            <a:ext cx="53186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Executive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79"/>
            <a:ext cx="82296" cy="8229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64207"/>
            <a:ext cx="53186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Call Duration (Minutes)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307591"/>
            <a:ext cx="82296" cy="8229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3319" y="1188719"/>
            <a:ext cx="53186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NPS &amp; Sentiment Distribution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783079"/>
            <a:ext cx="82296" cy="8229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3319" y="1664207"/>
            <a:ext cx="531860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</a:rPr>
              <a:t>Metric Correlation Matrix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C"/>
                </a:solidFill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19"/>
            <a:ext cx="11368735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79"/>
            <a:ext cx="2560320" cy="1097280"/>
          </a:xfrm>
          <a:prstGeom prst="rect">
            <a:avLst/>
          </a:prstGeom>
          <a:solidFill>
            <a:srgbClr val="F0F4FB"/>
          </a:solidFill>
          <a:ln w="6350">
            <a:solidFill>
              <a:srgbClr val="D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60" tIns="36288"/>
          <a:lstStyle/>
          <a:p>
            <a:pPr algn="ctr"/>
            <a:r>
              <a:rPr sz="1000">
                <a:solidFill>
                  <a:srgbClr val="555E75"/>
                </a:solidFill>
              </a:rPr>
              <a:t>Call Duration (Minutes)</a:t>
            </a:r>
          </a:p>
          <a:p>
            <a:r>
              <a:rPr sz="2000" b="1">
                <a:solidFill>
                  <a:srgbClr val="0D2B5C"/>
                </a:solidFill>
              </a:rPr>
              <a:t>29.0%</a:t>
            </a:r>
          </a:p>
          <a:p>
            <a:r>
              <a:rPr sz="1100" b="1">
                <a:solidFill>
                  <a:srgbClr val="0F7B3E"/>
                </a:solidFill>
              </a:rPr>
              <a:t>'+114.8%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3136392" y="1097279"/>
            <a:ext cx="2560320" cy="1097280"/>
          </a:xfrm>
          <a:prstGeom prst="rect">
            <a:avLst/>
          </a:prstGeom>
          <a:solidFill>
            <a:srgbClr val="F0F4FB"/>
          </a:solidFill>
          <a:ln w="6350">
            <a:solidFill>
              <a:srgbClr val="D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60" tIns="36288"/>
          <a:lstStyle/>
          <a:p>
            <a:pPr algn="ctr"/>
            <a:r>
              <a:rPr sz="1000">
                <a:solidFill>
                  <a:srgbClr val="555E75"/>
                </a:solidFill>
              </a:rPr>
              <a:t>Csat Score</a:t>
            </a:r>
          </a:p>
          <a:p>
            <a:r>
              <a:rPr sz="2000" b="1">
                <a:solidFill>
                  <a:srgbClr val="0D2B5C"/>
                </a:solidFill>
              </a:rPr>
              <a:t>4.0%</a:t>
            </a:r>
          </a:p>
          <a:p>
            <a:r>
              <a:rPr sz="1100" b="1">
                <a:solidFill>
                  <a:srgbClr val="C02A2A"/>
                </a:solidFill>
              </a:rPr>
              <a:t>'-27.3%</a:t>
            </a:r>
          </a:p>
        </p:txBody>
      </p:sp>
      <p:sp>
        <p:nvSpPr>
          <p:cNvPr id="6" name="Rectangle 5"/>
          <p:cNvSpPr/>
          <p:nvPr/>
        </p:nvSpPr>
        <p:spPr>
          <a:xfrm>
            <a:off x="5861304" y="1097279"/>
            <a:ext cx="2560320" cy="1097280"/>
          </a:xfrm>
          <a:prstGeom prst="rect">
            <a:avLst/>
          </a:prstGeom>
          <a:solidFill>
            <a:srgbClr val="F0F4FB"/>
          </a:solidFill>
          <a:ln w="6350">
            <a:solidFill>
              <a:srgbClr val="D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60" tIns="36288"/>
          <a:lstStyle/>
          <a:p>
            <a:pPr algn="ctr"/>
            <a:r>
              <a:rPr sz="1000">
                <a:solidFill>
                  <a:srgbClr val="555E75"/>
                </a:solidFill>
              </a:rPr>
              <a:t>Call Duration (Minutes)</a:t>
            </a:r>
          </a:p>
          <a:p>
            <a:r>
              <a:rPr sz="2000" b="1">
                <a:solidFill>
                  <a:srgbClr val="0D2B5C"/>
                </a:solidFill>
              </a:rPr>
              <a:t>29.0%</a:t>
            </a:r>
          </a:p>
          <a:p>
            <a:r>
              <a:rPr sz="1100" b="1">
                <a:solidFill>
                  <a:srgbClr val="0F7B3E"/>
                </a:solidFill>
              </a:rPr>
              <a:t>'+114.8%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468879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2B5C"/>
                </a:solidFill>
              </a:rPr>
              <a:t>Call Duration (Minutes) rose to 29.00% (+114.8% today vs yesterday).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54679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Positive movement was led by 'Below SLA' contributing 78.7% of the change.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C"/>
                </a:solidFill>
              </a:rPr>
              <a:t>Executive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19"/>
            <a:ext cx="11368735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79"/>
            <a:ext cx="2560320" cy="1097280"/>
          </a:xfrm>
          <a:prstGeom prst="rect">
            <a:avLst/>
          </a:prstGeom>
          <a:solidFill>
            <a:srgbClr val="F0F4FB"/>
          </a:solidFill>
          <a:ln w="6350">
            <a:solidFill>
              <a:srgbClr val="D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60" tIns="36288"/>
          <a:lstStyle/>
          <a:p>
            <a:pPr algn="ctr"/>
            <a:r>
              <a:rPr sz="1000">
                <a:solidFill>
                  <a:srgbClr val="555E75"/>
                </a:solidFill>
              </a:rPr>
              <a:t>Call Duration (Minutes)</a:t>
            </a:r>
          </a:p>
          <a:p>
            <a:r>
              <a:rPr sz="2000" b="1">
                <a:solidFill>
                  <a:srgbClr val="0D2B5C"/>
                </a:solidFill>
              </a:rPr>
              <a:t>29.0%</a:t>
            </a:r>
          </a:p>
          <a:p>
            <a:r>
              <a:rPr sz="1100" b="1">
                <a:solidFill>
                  <a:srgbClr val="0F7B3E"/>
                </a:solidFill>
              </a:rPr>
              <a:t>'+114.8%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3136392" y="1097279"/>
            <a:ext cx="2560320" cy="1097280"/>
          </a:xfrm>
          <a:prstGeom prst="rect">
            <a:avLst/>
          </a:prstGeom>
          <a:solidFill>
            <a:srgbClr val="F0F4FB"/>
          </a:solidFill>
          <a:ln w="6350">
            <a:solidFill>
              <a:srgbClr val="D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60" tIns="36288"/>
          <a:lstStyle/>
          <a:p>
            <a:pPr algn="ctr"/>
            <a:r>
              <a:rPr sz="1000">
                <a:solidFill>
                  <a:srgbClr val="555E75"/>
                </a:solidFill>
              </a:rPr>
              <a:t>Csat Score</a:t>
            </a:r>
          </a:p>
          <a:p>
            <a:r>
              <a:rPr sz="2000" b="1">
                <a:solidFill>
                  <a:srgbClr val="0D2B5C"/>
                </a:solidFill>
              </a:rPr>
              <a:t>4.0%</a:t>
            </a:r>
          </a:p>
          <a:p>
            <a:r>
              <a:rPr sz="1100" b="1">
                <a:solidFill>
                  <a:srgbClr val="C02A2A"/>
                </a:solidFill>
              </a:rPr>
              <a:t>'-27.3%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267" y="2377439"/>
            <a:ext cx="5623560" cy="3749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05495" y="237743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2B5C"/>
                </a:solidFill>
              </a:rPr>
              <a:t>Call Duration (Minutes) rose to 29.00% (+114.8% today vs yesterday).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5495" y="32461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Positive movement was led by 'Below SLA' contributing 78.7% of the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5495" y="4023359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B8B"/>
                </a:solidFill>
              </a:rPr>
              <a:t>Next: Scale successful initiatives in 'Below SLA' and assess sustainability across peer segments.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C"/>
                </a:solidFill>
              </a:rPr>
              <a:t>Call Duration (Minutes)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19"/>
            <a:ext cx="11368735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79"/>
            <a:ext cx="2560320" cy="1097280"/>
          </a:xfrm>
          <a:prstGeom prst="rect">
            <a:avLst/>
          </a:prstGeom>
          <a:solidFill>
            <a:srgbClr val="F0F4FB"/>
          </a:solidFill>
          <a:ln w="6350">
            <a:solidFill>
              <a:srgbClr val="D0D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960" tIns="36288"/>
          <a:lstStyle/>
          <a:p>
            <a:pPr algn="ctr"/>
            <a:r>
              <a:rPr sz="1000">
                <a:solidFill>
                  <a:srgbClr val="555E75"/>
                </a:solidFill>
              </a:rPr>
              <a:t>Call Duration (Minutes)</a:t>
            </a:r>
          </a:p>
          <a:p>
            <a:r>
              <a:rPr sz="2000" b="1">
                <a:solidFill>
                  <a:srgbClr val="0D2B5C"/>
                </a:solidFill>
              </a:rPr>
              <a:t>29.0%</a:t>
            </a:r>
          </a:p>
          <a:p>
            <a:r>
              <a:rPr sz="1100" b="1">
                <a:solidFill>
                  <a:srgbClr val="0F7B3E"/>
                </a:solidFill>
              </a:rPr>
              <a:t>'+114.8%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C"/>
                </a:solidFill>
              </a:rPr>
              <a:t>Drivers — Call Duration (Minutes)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19"/>
            <a:ext cx="11368735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79"/>
            <a:ext cx="113687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2B5C"/>
                </a:solidFill>
              </a:rPr>
              <a:t>Top contributors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00199"/>
            <a:ext cx="45720" cy="274320"/>
          </a:xfrm>
          <a:prstGeom prst="rect">
            <a:avLst/>
          </a:prstGeom>
          <a:solidFill>
            <a:srgbClr val="0F7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554479"/>
            <a:ext cx="112315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7B3E"/>
                </a:solidFill>
              </a:rPr>
              <a:t>Below SLA:  +78.7%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84247"/>
            <a:ext cx="45720" cy="274320"/>
          </a:xfrm>
          <a:prstGeom prst="rect">
            <a:avLst/>
          </a:prstGeom>
          <a:solidFill>
            <a:srgbClr val="0F7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938527"/>
            <a:ext cx="112315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7B3E"/>
                </a:solidFill>
              </a:rPr>
              <a:t>Within SLA:  +21.3%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C"/>
                </a:solidFill>
              </a:rPr>
              <a:t>NPS &amp; Sentiment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19"/>
            <a:ext cx="11368735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447" y="1097279"/>
            <a:ext cx="894080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C"/>
                </a:solidFill>
              </a:rPr>
              <a:t>Metric Correlation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19"/>
            <a:ext cx="11368735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447" y="1097279"/>
            <a:ext cx="894080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113687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2B5C"/>
                </a:solidFill>
              </a:rPr>
              <a:t>Risk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19"/>
            <a:ext cx="11368735" cy="3657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142999"/>
            <a:ext cx="11368735" cy="475488"/>
          </a:xfrm>
          <a:prstGeom prst="rect">
            <a:avLst/>
          </a:prstGeom>
          <a:solidFill>
            <a:srgbClr val="F0F4FB"/>
          </a:solidFill>
          <a:ln w="6350">
            <a:solidFill>
              <a:srgbClr val="555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2999"/>
            <a:ext cx="91440" cy="475488"/>
          </a:xfrm>
          <a:prstGeom prst="rect">
            <a:avLst/>
          </a:prstGeom>
          <a:solidFill>
            <a:srgbClr val="5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188719"/>
            <a:ext cx="7315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55E75"/>
                </a:solidFill>
              </a:rPr>
              <a:t>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188719"/>
            <a:ext cx="1031717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'Negative' CSAT Score swung +33% period-over-period.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73351"/>
            <a:ext cx="11368735" cy="475488"/>
          </a:xfrm>
          <a:prstGeom prst="rect">
            <a:avLst/>
          </a:prstGeom>
          <a:solidFill>
            <a:srgbClr val="FFF3CD"/>
          </a:solidFill>
          <a:ln w="6350">
            <a:solidFill>
              <a:srgbClr val="B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673351"/>
            <a:ext cx="91440" cy="475488"/>
          </a:xfrm>
          <a:prstGeom prst="rect">
            <a:avLst/>
          </a:prstGeom>
          <a:solidFill>
            <a:srgbClr val="B8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719071"/>
            <a:ext cx="7315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7A00"/>
                </a:solidFill>
              </a:rPr>
              <a:t>MEDIUM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19071"/>
            <a:ext cx="1031717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'Within SLA' CSAT Score swung -45% period-over-period.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03703"/>
            <a:ext cx="11368735" cy="475488"/>
          </a:xfrm>
          <a:prstGeom prst="rect">
            <a:avLst/>
          </a:prstGeom>
          <a:solidFill>
            <a:srgbClr val="FCE8E8"/>
          </a:solidFill>
          <a:ln w="635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203703"/>
            <a:ext cx="91440" cy="47548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249423"/>
            <a:ext cx="7315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2A2A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3"/>
            <a:ext cx="1031717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Call Duration (Minutes) swung +115% period-over-period.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734056"/>
            <a:ext cx="11368735" cy="475488"/>
          </a:xfrm>
          <a:prstGeom prst="rect">
            <a:avLst/>
          </a:prstGeom>
          <a:solidFill>
            <a:srgbClr val="FFF3CD"/>
          </a:solidFill>
          <a:ln w="6350">
            <a:solidFill>
              <a:srgbClr val="B8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734056"/>
            <a:ext cx="91440" cy="475488"/>
          </a:xfrm>
          <a:prstGeom prst="rect">
            <a:avLst/>
          </a:prstGeom>
          <a:solidFill>
            <a:srgbClr val="B8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779775"/>
            <a:ext cx="7315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7A00"/>
                </a:solidFill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79775"/>
            <a:ext cx="1031717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'Negative' Call Duration (Minutes) swung +53% period-over-period.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64408"/>
            <a:ext cx="11368735" cy="475488"/>
          </a:xfrm>
          <a:prstGeom prst="rect">
            <a:avLst/>
          </a:prstGeom>
          <a:solidFill>
            <a:srgbClr val="FCE8E8"/>
          </a:solidFill>
          <a:ln w="6350">
            <a:solidFill>
              <a:srgbClr val="C0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3264408"/>
            <a:ext cx="91440" cy="475488"/>
          </a:xfrm>
          <a:prstGeom prst="rect">
            <a:avLst/>
          </a:prstGeom>
          <a:solidFill>
            <a:srgbClr val="C0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310127"/>
            <a:ext cx="731520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02A2A"/>
                </a:solidFill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310127"/>
            <a:ext cx="10317175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</a:rPr>
              <a:t>'Within SLA' Call Duration (Minutes) swung +70% period-over-period.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D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91695" cy="7315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1148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AIVARA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103120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B5C"/>
                </a:solidFill>
              </a:rPr>
              <a:t>About this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697480"/>
            <a:ext cx="113687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E75"/>
                </a:solidFill>
              </a:rPr>
              <a:t>Generated by Aivara Insight  •  All figures computed locally from the uploaded dataset  •  AI narrative
enrichment via OpenRouter (offline fallback available)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190488"/>
            <a:ext cx="11368735" cy="27432"/>
          </a:xfrm>
          <a:prstGeom prst="rect">
            <a:avLst/>
          </a:prstGeom>
          <a:solidFill>
            <a:srgbClr val="D0D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245352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E75"/>
                </a:solidFill>
              </a:rPr>
              <a:t>Aivara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8615" y="6245352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E75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